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8" r:id="rId12"/>
    <p:sldId id="270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image" Target="../media/image2.png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59.xml"/><Relationship Id="rId23" Type="http://schemas.openxmlformats.org/officeDocument/2006/relationships/image" Target="../media/image5.png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1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image" Target="../media/image4.png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image" Target="../media/image3.png"/><Relationship Id="rId10" Type="http://schemas.openxmlformats.org/officeDocument/2006/relationships/tags" Target="../tags/tag48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351008" y="4681727"/>
            <a:ext cx="2926080" cy="2926080"/>
          </a:xfrm>
          <a:prstGeom prst="ellipse">
            <a:avLst/>
          </a:prstGeom>
          <a:noFill/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70464" y="4901183"/>
            <a:ext cx="2194560" cy="2194560"/>
          </a:xfrm>
          <a:prstGeom prst="ellipse">
            <a:avLst/>
          </a:prstGeom>
          <a:noFill/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120640"/>
            <a:ext cx="1463040" cy="1463040"/>
          </a:xfrm>
          <a:prstGeom prst="ellipse">
            <a:avLst/>
          </a:prstGeom>
          <a:noFill/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0" y="274320"/>
            <a:ext cx="36576" cy="548640"/>
          </a:xfrm>
          <a:prstGeom prst="rect">
            <a:avLst/>
          </a:prstGeom>
          <a:solidFill>
            <a:srgbClr val="2A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86032" y="274320"/>
            <a:ext cx="36576" cy="548640"/>
          </a:xfrm>
          <a:prstGeom prst="rect">
            <a:avLst/>
          </a:prstGeom>
          <a:solidFill>
            <a:srgbClr val="2A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274320"/>
            <a:ext cx="36576" cy="548640"/>
          </a:xfrm>
          <a:prstGeom prst="rect">
            <a:avLst/>
          </a:prstGeom>
          <a:solidFill>
            <a:srgbClr val="2A4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0" y="0"/>
            <a:ext cx="158465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42448" y="0"/>
            <a:ext cx="128016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05840"/>
            <a:ext cx="4206240" cy="457200"/>
          </a:xfrm>
          <a:prstGeom prst="rect">
            <a:avLst/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078992"/>
            <a:ext cx="4206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500" b="0">
                <a:solidFill>
                  <a:srgbClr val="42A5F5"/>
                </a:solidFill>
                <a:latin typeface="微软雅黑" panose="020B0503020204020204" charset="-122"/>
              </a:defRPr>
            </a:pPr>
            <a:r>
              <a:t>《人工智能应用实践》课程开题报告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面向金属表面缺陷的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914400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双链路门控智能质检辅助系统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77639"/>
            <a:ext cx="2560320" cy="444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67555"/>
            <a:ext cx="5486400" cy="3943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</a:rPr>
              <a:t>山东大学人工智能学院</a:t>
            </a:r>
            <a:endParaRPr sz="2400" b="1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295265"/>
            <a:ext cx="8229600" cy="3022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2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bg1"/>
                </a:solidFill>
              </a:rPr>
              <a:t>团队：</a:t>
            </a:r>
            <a:r>
              <a:rPr lang="zh-CN" sz="1800">
                <a:solidFill>
                  <a:schemeClr val="bg1"/>
                </a:solidFill>
              </a:rPr>
              <a:t>刘孟霄</a:t>
            </a:r>
            <a:r>
              <a:rPr lang="en-US" altLang="zh-CN" sz="1800">
                <a:solidFill>
                  <a:schemeClr val="bg1"/>
                </a:solidFill>
              </a:rPr>
              <a:t> </a:t>
            </a:r>
            <a:r>
              <a:rPr lang="zh-CN" altLang="en-US" sz="1800">
                <a:solidFill>
                  <a:schemeClr val="bg1"/>
                </a:solidFill>
              </a:rPr>
              <a:t>李丰润</a:t>
            </a:r>
            <a:r>
              <a:rPr lang="en-US" altLang="zh-CN" sz="1800">
                <a:solidFill>
                  <a:schemeClr val="bg1"/>
                </a:solidFill>
              </a:rPr>
              <a:t> </a:t>
            </a:r>
            <a:r>
              <a:rPr lang="zh-CN" altLang="en-US" sz="1800">
                <a:solidFill>
                  <a:schemeClr val="bg1"/>
                </a:solidFill>
              </a:rPr>
              <a:t>侯亚琳</a:t>
            </a:r>
            <a:r>
              <a:rPr sz="1800">
                <a:solidFill>
                  <a:schemeClr val="bg1"/>
                </a:solidFill>
              </a:rPr>
              <a:t>        2026.</a:t>
            </a:r>
            <a:r>
              <a:rPr lang="en-US" sz="1800">
                <a:solidFill>
                  <a:schemeClr val="bg1"/>
                </a:solidFill>
              </a:rPr>
              <a:t>9.23</a:t>
            </a:r>
            <a:endParaRPr 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01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22860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329184"/>
            <a:ext cx="566928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106424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0" y="-228600"/>
            <a:ext cx="914400" cy="914400"/>
          </a:xfrm>
          <a:prstGeom prst="ellipse">
            <a:avLst/>
          </a:prstGeom>
          <a:noFill/>
          <a:ln w="1524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2256" y="-210312"/>
            <a:ext cx="658368" cy="658368"/>
          </a:xfrm>
          <a:prstGeom prst="ellipse">
            <a:avLst/>
          </a:prstGeom>
          <a:noFill/>
          <a:ln w="1524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20272" y="-192024"/>
            <a:ext cx="402336" cy="402336"/>
          </a:xfrm>
          <a:prstGeom prst="ellipse">
            <a:avLst/>
          </a:prstGeom>
          <a:noFill/>
          <a:ln w="1524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320040" y="5989320"/>
            <a:ext cx="822960" cy="822960"/>
          </a:xfrm>
          <a:prstGeom prst="ellipse">
            <a:avLst/>
          </a:prstGeom>
          <a:noFill/>
          <a:ln w="1524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182879" y="6126480"/>
            <a:ext cx="548640" cy="548640"/>
          </a:xfrm>
          <a:prstGeom prst="ellipse">
            <a:avLst/>
          </a:prstGeom>
          <a:noFill/>
          <a:ln w="1524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417320"/>
            <a:ext cx="10515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691640"/>
            <a:ext cx="10515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67335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问题与需求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194560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行业痛点 · 系统定位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4173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417320"/>
            <a:ext cx="10515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691640"/>
            <a:ext cx="10515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9" y="167335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研究现状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2194560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技术路线 · 现有不足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0175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17520"/>
            <a:ext cx="10515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10515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27355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794760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双链路门控 · 可溯源校验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0175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017520"/>
            <a:ext cx="10515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291840"/>
            <a:ext cx="10515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799" y="327355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创新点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3794760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架构 · 工作流 · 工程实现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6177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617720"/>
            <a:ext cx="10515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92040"/>
            <a:ext cx="10515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87375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可行性与先导实验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394960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技术验证 · 实测数据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6177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59" y="4617720"/>
            <a:ext cx="10515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4892040"/>
            <a:ext cx="10515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799" y="487375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中期计划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799" y="5394960"/>
            <a:ext cx="3840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中期交付目标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一、待解决的问题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012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</a:rPr>
              <a:t>中小机械加工厂 · 多品种小批量 · 离线抽检</a:t>
            </a:r>
            <a:endParaRPr sz="1400" b="1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1018520" y="22860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329184"/>
            <a:ext cx="566928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106424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417320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417320"/>
            <a:ext cx="3520440" cy="12801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822960" y="1737360"/>
            <a:ext cx="9144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5200" b="1">
                <a:solidFill>
                  <a:srgbClr val="FFEBEE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换产成本高</a:t>
            </a: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822960" y="3337560"/>
            <a:ext cx="1097280" cy="3175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22960" y="3611880"/>
            <a:ext cx="301752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600"/>
              <a:t>新零件需标注缺陷、训练模型</a:t>
            </a:r>
            <a:endParaRPr sz="1600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822960" y="4251960"/>
            <a:ext cx="301752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600"/>
              <a:t>周期长 · 成本高 · 小批量难承担</a:t>
            </a:r>
            <a:endParaRPr sz="1600"/>
          </a:p>
        </p:txBody>
      </p:sp>
      <p:sp>
        <p:nvSpPr>
          <p:cNvPr id="15" name="Rounded Rectangle 14"/>
          <p:cNvSpPr/>
          <p:nvPr>
            <p:custDataLst>
              <p:tags r:id="rId8"/>
            </p:custDataLst>
          </p:nvPr>
        </p:nvSpPr>
        <p:spPr>
          <a:xfrm>
            <a:off x="4343400" y="1417320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4343400" y="1417320"/>
            <a:ext cx="3520440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4617720" y="1737360"/>
            <a:ext cx="9144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5200" b="1">
                <a:solidFill>
                  <a:srgbClr val="FFF3E0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4617720" y="2743200"/>
            <a:ext cx="30175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400" b="1">
                <a:solidFill>
                  <a:srgbClr val="E65100"/>
                </a:solidFill>
                <a:latin typeface="微软雅黑" panose="020B0503020204020204" charset="-122"/>
              </a:defRPr>
            </a:pPr>
            <a:r>
              <a:t>分析效率低</a:t>
            </a:r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4617720" y="3337560"/>
            <a:ext cx="1097280" cy="317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4617720" y="3611880"/>
            <a:ext cx="301752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600"/>
              <a:t>翻标准、写报告、分析根因</a:t>
            </a:r>
            <a:endParaRPr sz="1600"/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4617720" y="4251960"/>
            <a:ext cx="301752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600"/>
              <a:t>依赖人工经验 · 单份报告</a:t>
            </a:r>
            <a:r>
              <a:rPr lang="zh-CN" sz="1600"/>
              <a:t>耗时长</a:t>
            </a:r>
            <a:endParaRPr lang="zh-CN" sz="1600"/>
          </a:p>
        </p:txBody>
      </p:sp>
      <p:sp>
        <p:nvSpPr>
          <p:cNvPr id="22" name="Rounded Rectangle 21"/>
          <p:cNvSpPr/>
          <p:nvPr>
            <p:custDataLst>
              <p:tags r:id="rId15"/>
            </p:custDataLst>
          </p:nvPr>
        </p:nvSpPr>
        <p:spPr>
          <a:xfrm>
            <a:off x="8138160" y="1417320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6"/>
            </p:custDataLst>
          </p:nvPr>
        </p:nvSpPr>
        <p:spPr>
          <a:xfrm>
            <a:off x="8138160" y="1417320"/>
            <a:ext cx="3520440" cy="12801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7"/>
            </p:custDataLst>
          </p:nvPr>
        </p:nvSpPr>
        <p:spPr>
          <a:xfrm>
            <a:off x="8412480" y="1737360"/>
            <a:ext cx="9144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5200" b="1">
                <a:solidFill>
                  <a:srgbClr val="E3F2FD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8412480" y="2743200"/>
            <a:ext cx="30175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400" b="1">
                <a:solidFill>
                  <a:srgbClr val="1565C0"/>
                </a:solidFill>
                <a:latin typeface="微软雅黑" panose="020B0503020204020204" charset="-122"/>
              </a:defRPr>
            </a:pPr>
            <a:r>
              <a:t>合规性弱</a:t>
            </a:r>
          </a:p>
        </p:txBody>
      </p:sp>
      <p:sp>
        <p:nvSpPr>
          <p:cNvPr id="26" name="Rectangle 25"/>
          <p:cNvSpPr/>
          <p:nvPr>
            <p:custDataLst>
              <p:tags r:id="rId19"/>
            </p:custDataLst>
          </p:nvPr>
        </p:nvSpPr>
        <p:spPr>
          <a:xfrm>
            <a:off x="8412480" y="3337560"/>
            <a:ext cx="109728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8412480" y="3611880"/>
            <a:ext cx="301752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600"/>
              <a:t>人工判定标准不统一</a:t>
            </a:r>
            <a:endParaRPr sz="1600"/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8412480" y="4251960"/>
            <a:ext cx="301752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600"/>
              <a:t>无溯源记录 · 不符合可追溯要求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一、系统定位与目标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0120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</a:rPr>
              <a:t>人在回路的离线质检辅助工具</a:t>
            </a:r>
            <a:endParaRPr sz="1600" b="1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1018520" y="22860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329184"/>
            <a:ext cx="566928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106424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141732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828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1">
                <a:solidFill>
                  <a:srgbClr val="E65100"/>
                </a:solidFill>
                <a:latin typeface="微软雅黑" panose="020B0503020204020204" charset="-122"/>
              </a:defRPr>
            </a:pPr>
            <a:r>
              <a:t>系统定位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24128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负责定位、初筛、整理依据，人工负责最终确认 —— 质检「副驾驶」，不替代人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3520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3520440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91440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9544"/>
            <a:ext cx="228600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少样本检测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01752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t>仅需10-20张正常样本建库</a:t>
            </a:r>
            <a:br/>
            <a:r>
              <a:t>换产无需模型训练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063240"/>
            <a:ext cx="3520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063240"/>
            <a:ext cx="3520440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191256"/>
            <a:ext cx="91440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209544"/>
            <a:ext cx="228600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自动化分析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23360"/>
            <a:ext cx="301752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t>自动匹配标准、生成报告</a:t>
            </a:r>
            <a:br/>
            <a:r>
              <a:t>降低质检人工工作量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063240"/>
            <a:ext cx="3520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063240"/>
            <a:ext cx="3520440" cy="6217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191256"/>
            <a:ext cx="91440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09544"/>
            <a:ext cx="228600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可溯源合规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301752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t>结论绑定标准原文页码</a:t>
            </a:r>
            <a:br/>
            <a:r>
              <a:t>错误可识别、可校验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0A1F44"/>
                </a:solidFill>
                <a:latin typeface="微软雅黑" panose="020B0503020204020204" charset="-122"/>
              </a:rPr>
              <a:t>二、研究现状 · 三类技术路线对比</a:t>
            </a:r>
            <a:endParaRPr sz="26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现有路线各有优势，但均存在结构性缺陷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56032"/>
            <a:ext cx="548640" cy="54864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338328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09447" y="1325880"/>
            <a:ext cx="3383280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1362456"/>
            <a:ext cx="3383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监督学习路线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（YOLO / CNN）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047" y="214280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微软雅黑" panose="020B0503020204020204" charset="-122"/>
              </a:rPr>
              <a:t>【√】检测精度高</a:t>
            </a:r>
            <a:endParaRPr sz="14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047" y="264572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微软雅黑" panose="020B0503020204020204" charset="-122"/>
              </a:rPr>
              <a:t>【×】需大量标注数据，训练周期长</a:t>
            </a:r>
            <a:endParaRPr sz="14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047" y="314864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【×】换产重新标注成本高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301087" y="4178807"/>
            <a:ext cx="0" cy="393193"/>
          </a:xfrm>
          <a:prstGeom prst="line">
            <a:avLst/>
          </a:prstGeom>
          <a:ln w="317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04207" y="1325880"/>
            <a:ext cx="338328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4207" y="1325880"/>
            <a:ext cx="3383280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207" y="1362456"/>
            <a:ext cx="3383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零样本异常检测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（WinCLIP 等）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7720" y="2142808"/>
            <a:ext cx="3127375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微软雅黑" panose="020B0503020204020204" charset="-122"/>
              </a:rPr>
              <a:t>【√】仅需正常样本建库，适配小批量</a:t>
            </a:r>
            <a:endParaRPr sz="14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32807" y="264572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微软雅黑" panose="020B0503020204020204" charset="-122"/>
              </a:rPr>
              <a:t>【√】无需标注缺陷数据</a:t>
            </a:r>
            <a:endParaRPr sz="14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32807" y="314864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微软雅黑" panose="020B0503020204020204" charset="-122"/>
              </a:rPr>
              <a:t>【×】只有检测定位，缺少深度分析</a:t>
            </a:r>
            <a:endParaRPr sz="14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095847" y="4178807"/>
            <a:ext cx="0" cy="393193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98967" y="1325880"/>
            <a:ext cx="338328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8967" y="1325880"/>
            <a:ext cx="3383280" cy="56692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8967" y="1362456"/>
            <a:ext cx="3383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生成式 VLM + RAG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知识库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27567" y="214280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微软雅黑" panose="020B0503020204020204" charset="-122"/>
              </a:rPr>
              <a:t>【√】能理解图像、结合知识库问答</a:t>
            </a:r>
            <a:endParaRPr sz="14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27567" y="264572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微软雅黑" panose="020B0503020204020204" charset="-122"/>
              </a:rPr>
              <a:t>【×】多为纯文本，缺视觉检测融合</a:t>
            </a:r>
            <a:endParaRPr sz="14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27567" y="3148648"/>
            <a:ext cx="29260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微软雅黑" panose="020B0503020204020204" charset="-122"/>
              </a:rPr>
              <a:t>【×】幻觉不可控，不符合工业合规</a:t>
            </a:r>
            <a:endParaRPr sz="14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890607" y="4178807"/>
            <a:ext cx="0" cy="393193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97280" y="4709160"/>
            <a:ext cx="9994265" cy="168783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28209"/>
            <a:ext cx="9994392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800" b="1">
                <a:solidFill>
                  <a:srgbClr val="E65100"/>
                </a:solidFill>
                <a:latin typeface="微软雅黑" panose="020B0503020204020204" charset="-122"/>
              </a:rPr>
              <a:t>现有方案共性不足</a:t>
            </a:r>
            <a:endParaRPr sz="28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36675" y="5549900"/>
            <a:ext cx="9519285" cy="29527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要么只有检测没有分析     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要么只有分析没有定位   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 缺少兼顾效率、精度、合规性的完整工作流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0A1F44"/>
                </a:solidFill>
                <a:latin typeface="微软雅黑" panose="020B0503020204020204" charset="-122"/>
              </a:rPr>
              <a:t>三、系统架构与核心机制</a:t>
            </a:r>
            <a:endParaRPr sz="26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56032"/>
            <a:ext cx="548640" cy="54864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38247" y="1234440"/>
            <a:ext cx="228600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247" y="1234440"/>
            <a:ext cx="22860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微软雅黑" panose="020B0503020204020204" charset="-122"/>
              </a:rPr>
              <a:t>正常样本图</a:t>
            </a:r>
            <a:endParaRPr sz="11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52847" y="1234440"/>
            <a:ext cx="228600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1234440"/>
            <a:ext cx="22860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微软雅黑" panose="020B0503020204020204" charset="-122"/>
              </a:rPr>
              <a:t>待检工件图</a:t>
            </a:r>
            <a:endParaRPr sz="11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67447" y="1234440"/>
            <a:ext cx="228600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7447" y="1234440"/>
            <a:ext cx="22860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微软雅黑" panose="020B0503020204020204" charset="-122"/>
              </a:rPr>
              <a:t>质检标准文档</a:t>
            </a:r>
            <a:endParaRPr sz="11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96304" y="1618488"/>
            <a:ext cx="0" cy="182880"/>
          </a:xfrm>
          <a:prstGeom prst="line">
            <a:avLst/>
          </a:prstGeom>
          <a:ln w="2286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1801368"/>
            <a:ext cx="8531352" cy="41148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902333"/>
            <a:ext cx="8531352" cy="20955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微软雅黑" panose="020B0503020204020204" charset="-122"/>
              </a:rPr>
              <a:t>感知检测层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 · WinCLIP：特征库建库 | 多尺度滑窗 | 异常热力图 | 全局</a:t>
            </a:r>
            <a:r>
              <a:rPr lang="zh-CN" sz="1100" b="1">
                <a:solidFill>
                  <a:srgbClr val="FFFFFF"/>
                </a:solidFill>
                <a:latin typeface="微软雅黑" panose="020B0503020204020204" charset="-122"/>
              </a:rPr>
              <a:t>异常分数</a:t>
            </a:r>
            <a:endParaRPr lang="zh-CN"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096304" y="2212848"/>
            <a:ext cx="0" cy="182880"/>
          </a:xfrm>
          <a:prstGeom prst="line">
            <a:avLst/>
          </a:prstGeom>
          <a:ln w="2286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4770424" y="2542032"/>
            <a:ext cx="2651760" cy="548640"/>
          </a:xfrm>
          <a:prstGeom prst="diamond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门控：分数≥</a:t>
            </a:r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</a:rPr>
              <a:t>阈值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?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61410" y="2695893"/>
            <a:ext cx="993775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400" b="1">
                <a:solidFill>
                  <a:srgbClr val="2E7D32"/>
                </a:solidFill>
                <a:latin typeface="微软雅黑" panose="020B0503020204020204" charset="-122"/>
              </a:rPr>
              <a:t>是·高置信</a:t>
            </a:r>
            <a:endParaRPr sz="14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67600" y="2695893"/>
            <a:ext cx="949325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微软雅黑" panose="020B0503020204020204" charset="-122"/>
              </a:rPr>
              <a:t>否·低置信</a:t>
            </a:r>
            <a:endParaRPr sz="1400" b="1">
              <a:solidFill>
                <a:srgbClr val="6A1B9A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2926080" y="3090672"/>
            <a:ext cx="2210104" cy="292607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401568"/>
            <a:ext cx="475488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475488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47548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快链路 · 高置信直出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475488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>
                <a:solidFill>
                  <a:srgbClr val="0A1F44"/>
                </a:solidFill>
                <a:latin typeface="微软雅黑" panose="020B0503020204020204" charset="-122"/>
              </a:rPr>
              <a:t>热力图 → 定位 → 等级判定</a:t>
            </a:r>
            <a:endParaRPr sz="16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056424" y="3090672"/>
            <a:ext cx="1932128" cy="292607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60" y="3401568"/>
            <a:ext cx="5349240" cy="1874519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401568"/>
            <a:ext cx="5349240" cy="29260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443097"/>
            <a:ext cx="5349240" cy="20955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慢链路 · 低置信精析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</a:rPr>
              <a:t>（认知层）</a:t>
            </a:r>
            <a:endParaRPr sz="12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60" y="3767328"/>
            <a:ext cx="534924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微软雅黑" panose="020B0503020204020204" charset="-122"/>
              </a:rPr>
              <a:t>裁剪 → VLM描述 → RAG标准检索 → 引用校验 → 结构化报告</a:t>
            </a:r>
            <a:endParaRPr sz="12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36665" y="4078986"/>
            <a:ext cx="5349240" cy="1638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微软雅黑" panose="020B0503020204020204" charset="-122"/>
              </a:rPr>
              <a:t>── 引用校验5步 ──</a:t>
            </a:r>
            <a:endParaRPr sz="900" b="1">
              <a:solidFill>
                <a:srgbClr val="6A1B9A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78524" y="448056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78524" y="4547235"/>
            <a:ext cx="914400" cy="1866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FF0000"/>
                </a:solidFill>
                <a:latin typeface="微软雅黑" panose="020B0503020204020204" charset="-122"/>
              </a:rPr>
              <a:t>①片段ID化</a:t>
            </a:r>
            <a:endParaRPr sz="105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502652" y="448056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02652" y="4547235"/>
            <a:ext cx="914400" cy="1866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FF0000"/>
                </a:solidFill>
                <a:latin typeface="微软雅黑" panose="020B0503020204020204" charset="-122"/>
              </a:rPr>
              <a:t>②RAG检索</a:t>
            </a:r>
            <a:endParaRPr sz="105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26780" y="448056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6780" y="4547235"/>
            <a:ext cx="914400" cy="1866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FF0000"/>
                </a:solidFill>
                <a:latin typeface="微软雅黑" panose="020B0503020204020204" charset="-122"/>
              </a:rPr>
              <a:t>③强制生成ID</a:t>
            </a:r>
            <a:endParaRPr sz="105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550908" y="448056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0908" y="4547235"/>
            <a:ext cx="914400" cy="1866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FF0000"/>
                </a:solidFill>
                <a:latin typeface="微软雅黑" panose="020B0503020204020204" charset="-122"/>
              </a:rPr>
              <a:t>④后处理校验</a:t>
            </a:r>
            <a:endParaRPr sz="105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575036" y="448056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75036" y="4547235"/>
            <a:ext cx="914400" cy="18669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FF0000"/>
                </a:solidFill>
                <a:latin typeface="微软雅黑" panose="020B0503020204020204" charset="-122"/>
              </a:rPr>
              <a:t>⑤失败降级</a:t>
            </a:r>
            <a:endParaRPr sz="105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92240" y="4882896"/>
            <a:ext cx="2423160" cy="34747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882642"/>
            <a:ext cx="2423160" cy="3479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1">
                <a:solidFill>
                  <a:srgbClr val="2E7D32"/>
                </a:solidFill>
                <a:latin typeface="微软雅黑" panose="020B0503020204020204" charset="-122"/>
              </a:rPr>
              <a:t>【√】ID在检索中
正常展示</a:t>
            </a:r>
            <a:endParaRPr sz="105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052560" y="4882896"/>
            <a:ext cx="2423160" cy="347472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882642"/>
            <a:ext cx="2423160" cy="3479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50" b="1">
                <a:solidFill>
                  <a:srgbClr val="C62828"/>
                </a:solidFill>
                <a:latin typeface="微软雅黑" panose="020B0503020204020204" charset="-122"/>
              </a:rPr>
              <a:t>【×】ID不存在
标红+降级人工选</a:t>
            </a:r>
            <a:endParaRPr sz="1050" b="1">
              <a:solidFill>
                <a:srgbClr val="C62828"/>
              </a:solidFill>
              <a:latin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2926080" y="4178808"/>
            <a:ext cx="2103120" cy="1536192"/>
          </a:xfrm>
          <a:prstGeom prst="line">
            <a:avLst/>
          </a:prstGeom>
          <a:ln w="2286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7132320" y="5276088"/>
            <a:ext cx="1856232" cy="438912"/>
          </a:xfrm>
          <a:prstGeom prst="line">
            <a:avLst/>
          </a:prstGeom>
          <a:ln w="2286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828800" y="5742432"/>
            <a:ext cx="8531352" cy="4572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0" y="5835460"/>
            <a:ext cx="8531352" cy="27114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分析结果与质检报告 → 人工最终确认（人在回路）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→</a:t>
            </a:r>
            <a:r>
              <a:rPr lang="en-US"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反馈闭环优化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51" name="Connector 50"/>
          <p:cNvCxnSpPr/>
          <p:nvPr/>
        </p:nvCxnSpPr>
        <p:spPr>
          <a:xfrm flipH="1">
            <a:off x="320040" y="5971032"/>
            <a:ext cx="1508760" cy="0"/>
          </a:xfrm>
          <a:prstGeom prst="line">
            <a:avLst/>
          </a:prstGeom>
          <a:ln w="16510">
            <a:solidFill>
              <a:srgbClr val="E651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40" y="2011680"/>
            <a:ext cx="0" cy="3959352"/>
          </a:xfrm>
          <a:prstGeom prst="line">
            <a:avLst/>
          </a:prstGeom>
          <a:ln w="16510">
            <a:solidFill>
              <a:srgbClr val="E651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0040" y="2011680"/>
            <a:ext cx="1508760" cy="0"/>
          </a:xfrm>
          <a:prstGeom prst="line">
            <a:avLst/>
          </a:prstGeom>
          <a:ln w="16510">
            <a:solidFill>
              <a:srgbClr val="E651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四、项目创新点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01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t>底层模型用开源，创新集中在应用架构与工程落地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22860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329184"/>
            <a:ext cx="566928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106424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325880"/>
            <a:ext cx="352044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325880"/>
            <a:ext cx="352044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77240" y="1463040"/>
            <a:ext cx="3108960" cy="3327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1">
                <a:solidFill>
                  <a:srgbClr val="E3F2FD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rgbClr val="FF0000"/>
                </a:solidFill>
              </a:rPr>
              <a:t>应用架构创新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77240" y="1783080"/>
            <a:ext cx="3108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置信度门控的双链路质检架构</a:t>
            </a: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731520" y="2423160"/>
            <a:ext cx="18288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6400" b="1">
                <a:solidFill>
                  <a:srgbClr val="E3F2FD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22960" y="3611880"/>
            <a:ext cx="3017520" cy="763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600" b="1"/>
              <a:t>高置信快检、低置信精析，兼顾效率与深度；避免全量图走大模型的算力浪费</a:t>
            </a:r>
            <a:endParaRPr sz="1600" b="1"/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4343400" y="1325880"/>
            <a:ext cx="352044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4343400" y="1325880"/>
            <a:ext cx="352044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4572000" y="1463040"/>
            <a:ext cx="3108960" cy="3327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1">
                <a:solidFill>
                  <a:srgbClr val="E8F5E9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chemeClr val="tx1"/>
                </a:solidFill>
              </a:rPr>
              <a:t>场景工作流创新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4572000" y="1783080"/>
            <a:ext cx="3108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少样本全流程质检闭环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4526280" y="2423160"/>
            <a:ext cx="18288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6400" b="1">
                <a:solidFill>
                  <a:srgbClr val="E8F5E9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4617720" y="3611880"/>
            <a:ext cx="3017520" cy="763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600" b="1"/>
              <a:t>建库→检测→定位→分析→报告→迭代；仅需10-20张正常样本，换产0.5-1天</a:t>
            </a:r>
            <a:endParaRPr sz="1600" b="1"/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8138160" y="1325880"/>
            <a:ext cx="352044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8138160" y="1325880"/>
            <a:ext cx="352044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8366760" y="1463040"/>
            <a:ext cx="3108960" cy="3327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1">
                <a:solidFill>
                  <a:srgbClr val="FFF3E0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chemeClr val="bg1"/>
                </a:solidFill>
              </a:rPr>
              <a:t>工程实现创新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8366760" y="1783080"/>
            <a:ext cx="3108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引用ID绑定的可溯源校验机制</a:t>
            </a:r>
          </a:p>
        </p:txBody>
      </p:sp>
      <p:sp>
        <p:nvSpPr>
          <p:cNvPr id="24" name="TextBox 23"/>
          <p:cNvSpPr txBox="1"/>
          <p:nvPr>
            <p:custDataLst>
              <p:tags r:id="rId17"/>
            </p:custDataLst>
          </p:nvPr>
        </p:nvSpPr>
        <p:spPr>
          <a:xfrm>
            <a:off x="8321040" y="2423160"/>
            <a:ext cx="18288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6400" b="1">
                <a:solidFill>
                  <a:srgbClr val="FFF3E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8412480" y="3611880"/>
            <a:ext cx="3017520" cy="1645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t>所有判定绑定标准原文页码，输出自动校验；失败自动降级，符合工业合规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65000"/>
            <a:ext cx="1106424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  <a:latin typeface="微软雅黑" panose="020B0503020204020204" charset="-122"/>
              </a:defRPr>
            </a:pPr>
            <a:r>
              <a:t>技术边界：底层视觉模型、语言模型、RAG框架均采用开源成熟组件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五、可行性分析 · 技术与数据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01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t>MVTec-AD metal_nut 零样本无训练实测</a:t>
            </a:r>
          </a:p>
        </p:txBody>
      </p:sp>
      <p:sp>
        <p:nvSpPr>
          <p:cNvPr id="5" name="Oval 4"/>
          <p:cNvSpPr/>
          <p:nvPr/>
        </p:nvSpPr>
        <p:spPr>
          <a:xfrm>
            <a:off x="11018520" y="22860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329184"/>
            <a:ext cx="566928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106424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4688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4200" b="1">
                <a:solidFill>
                  <a:srgbClr val="1565C0"/>
                </a:solidFill>
                <a:latin typeface="微软雅黑" panose="020B0503020204020204" charset="-122"/>
              </a:defRPr>
            </a:pPr>
            <a:r>
              <a:t>0.9868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检测 AUROC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2588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45920"/>
            <a:ext cx="24688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42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94.78%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06040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24688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4200" b="1">
                <a:solidFill>
                  <a:srgbClr val="E65100"/>
                </a:solidFill>
                <a:latin typeface="微软雅黑" panose="020B0503020204020204" charset="-122"/>
              </a:defRPr>
            </a:pPr>
            <a:r>
              <a:t>96.77%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精确率 / 召回率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47472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794760"/>
            <a:ext cx="24688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42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t>0.2243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754880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门控阈值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325880"/>
            <a:ext cx="5669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63040"/>
            <a:ext cx="53035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正常 vs 缺陷 异常分数分布</a:t>
            </a:r>
          </a:p>
        </p:txBody>
      </p:sp>
      <p:pic>
        <p:nvPicPr>
          <p:cNvPr id="22" name="Picture 21" descr="score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965960"/>
            <a:ext cx="5120640" cy="317074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48640" y="5806440"/>
            <a:ext cx="1106424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86336"/>
            <a:ext cx="10698480" cy="27114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600"/>
              <a:t>数据：MVTec-AD 公开数据集（115张 = 93缺陷 + 22正常） | 算力：CPU 可跑（感知2-3秒/图，认知</a:t>
            </a:r>
            <a:r>
              <a:rPr lang="en-US" sz="1600"/>
              <a:t>8-15</a:t>
            </a:r>
            <a:r>
              <a:rPr sz="1600"/>
              <a:t>秒/图）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2600" b="1">
                <a:solidFill>
                  <a:srgbClr val="0A1F44"/>
                </a:solidFill>
                <a:latin typeface="微软雅黑" panose="020B0503020204020204" charset="-122"/>
              </a:defRPr>
            </a:pPr>
            <a:r>
              <a:t>五、先导实验 · 实测结果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01200" cy="2711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</a:rPr>
              <a:t>核心技术路线可行性</a:t>
            </a:r>
            <a:endParaRPr lang="zh-CN" sz="1600" b="1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1018520" y="22860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329184"/>
            <a:ext cx="566928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106424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280160"/>
            <a:ext cx="54406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85800" y="132588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感知层 · 高置信快链路</a:t>
            </a:r>
          </a:p>
        </p:txBody>
      </p:sp>
      <p:pic>
        <p:nvPicPr>
          <p:cNvPr id="11" name="Picture 10" descr="high_conf_sampl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8640" y="1663065"/>
            <a:ext cx="5403215" cy="1891030"/>
          </a:xfrm>
          <a:prstGeom prst="rect">
            <a:avLst/>
          </a:prstGeom>
        </p:spPr>
      </p:pic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887730" y="3520313"/>
            <a:ext cx="516636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FF0000"/>
                </a:solidFill>
              </a:rPr>
              <a:t>异常分数 0.47 ≥ 阈值 0.22，直接输出缺陷定位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6172200" y="128016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8"/>
            </p:custDataLst>
          </p:nvPr>
        </p:nvSpPr>
        <p:spPr>
          <a:xfrm>
            <a:off x="6172200" y="1280160"/>
            <a:ext cx="54406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309360" y="132588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感知层 · 低置信触发慢链路</a:t>
            </a:r>
          </a:p>
        </p:txBody>
      </p:sp>
      <p:pic>
        <p:nvPicPr>
          <p:cNvPr id="16" name="Picture 15" descr="low_conf_sampl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278245" y="1637665"/>
            <a:ext cx="5276215" cy="1932940"/>
          </a:xfrm>
          <a:prstGeom prst="rect">
            <a:avLst/>
          </a:prstGeom>
        </p:spPr>
      </p:pic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551295" y="3533013"/>
            <a:ext cx="516636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FF0000"/>
                </a:solidFill>
              </a:rPr>
              <a:t>异常分数 ≈ 阈值，触发 VLM+RAG 深度分析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548640" y="388620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548640" y="3886200"/>
            <a:ext cx="54406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85800" y="393192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认知层 · RAG 标准检索</a:t>
            </a:r>
          </a:p>
        </p:txBody>
      </p:sp>
      <p:pic>
        <p:nvPicPr>
          <p:cNvPr id="21" name="Picture 20" descr="retrieval_h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24510" y="4304665"/>
            <a:ext cx="5446395" cy="2119630"/>
          </a:xfrm>
          <a:prstGeom prst="rect">
            <a:avLst/>
          </a:prstGeom>
        </p:spPr>
      </p:pic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548640" y="6491478"/>
            <a:ext cx="516636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FF0000"/>
                </a:solidFill>
              </a:rPr>
              <a:t>TF-IDF 检索 Top-3，返回引用ID + 页码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3" name="Rounded Rectangle 22"/>
          <p:cNvSpPr/>
          <p:nvPr>
            <p:custDataLst>
              <p:tags r:id="rId19"/>
            </p:custDataLst>
          </p:nvPr>
        </p:nvSpPr>
        <p:spPr>
          <a:xfrm>
            <a:off x="6172200" y="388620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20"/>
            </p:custDataLst>
          </p:nvPr>
        </p:nvSpPr>
        <p:spPr>
          <a:xfrm>
            <a:off x="6172200" y="3886200"/>
            <a:ext cx="544068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21"/>
            </p:custDataLst>
          </p:nvPr>
        </p:nvSpPr>
        <p:spPr>
          <a:xfrm>
            <a:off x="6309360" y="393192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认知层 · 四步完整流程</a:t>
            </a:r>
          </a:p>
        </p:txBody>
      </p:sp>
      <p:pic>
        <p:nvPicPr>
          <p:cNvPr id="26" name="Picture 25" descr="cognition_v3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210935" y="4389120"/>
            <a:ext cx="5374005" cy="2108835"/>
          </a:xfrm>
          <a:prstGeom prst="rect">
            <a:avLst/>
          </a:prstGeom>
        </p:spPr>
      </p:pic>
      <p:sp>
        <p:nvSpPr>
          <p:cNvPr id="27" name="TextBox 26"/>
          <p:cNvSpPr txBox="1"/>
          <p:nvPr>
            <p:custDataLst>
              <p:tags r:id="rId24"/>
            </p:custDataLst>
          </p:nvPr>
        </p:nvSpPr>
        <p:spPr>
          <a:xfrm>
            <a:off x="6388100" y="6480048"/>
            <a:ext cx="516636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FF0000"/>
                </a:solidFill>
              </a:rPr>
              <a:t>描述 → 检索 → 校验 → 结构化输出</a:t>
            </a:r>
            <a:endParaRPr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0A1F44"/>
                </a:solidFill>
                <a:latin typeface="微软雅黑" panose="020B0503020204020204" charset="-122"/>
              </a:rPr>
              <a:t>六、中期完善计划</a:t>
            </a:r>
            <a:endParaRPr sz="2600" b="1">
              <a:solidFill>
                <a:srgbClr val="0A1F4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核心算法已验证，中期聚焦真实模型Web化、智能对话助手与对比实验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56032"/>
            <a:ext cx="548640" cy="54864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94960" cy="4206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39496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548640" y="1388110"/>
            <a:ext cx="5394960" cy="3327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已完成（开题阶段）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1929384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777240" y="1915414"/>
            <a:ext cx="274320" cy="3022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√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432" y="1917255"/>
            <a:ext cx="777240" cy="27114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 panose="020B0503020204020204" charset="-122"/>
              </a:rPr>
              <a:t>感知层</a:t>
            </a:r>
            <a:endParaRPr sz="16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1916302"/>
            <a:ext cx="384048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WinCLIP 零样本异常检测 + 多尺度滑窗 + 阈值标定（0.2243）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96312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77240" y="2482342"/>
            <a:ext cx="274320" cy="3022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√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70432" y="2360994"/>
            <a:ext cx="7772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 panose="020B0503020204020204" charset="-122"/>
              </a:rPr>
              <a:t>门控逻辑</a:t>
            </a:r>
            <a:endParaRPr sz="16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2483231"/>
            <a:ext cx="384048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置信度路由：高置信快链路直出，低置信触发慢链路精析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39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777240" y="3049269"/>
            <a:ext cx="274320" cy="3022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√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70432" y="2927921"/>
            <a:ext cx="7772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 panose="020B0503020204020204" charset="-122"/>
              </a:rPr>
              <a:t>认知机制</a:t>
            </a:r>
            <a:endParaRPr sz="16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3050158"/>
            <a:ext cx="384048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VLM 缺陷描述 + RAG 标准检索 + 引用ID后处理校验逻辑仿真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630168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77240" y="3616198"/>
            <a:ext cx="274320" cy="3022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√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70432" y="3494849"/>
            <a:ext cx="7772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 panose="020B0503020204020204" charset="-122"/>
              </a:rPr>
              <a:t>实验数据</a:t>
            </a:r>
            <a:endParaRPr sz="16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3617086"/>
            <a:ext cx="384048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MVTec-AD metal_nut：AUROC=0.9868，准确率94.78%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4197096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777240" y="4183126"/>
            <a:ext cx="274320" cy="3022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√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0432" y="4061778"/>
            <a:ext cx="7772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 panose="020B0503020204020204" charset="-122"/>
              </a:rPr>
              <a:t>产品原型</a:t>
            </a:r>
            <a:endParaRPr sz="16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20240" y="4291648"/>
            <a:ext cx="3840480" cy="24066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在线演示站：完整交互流程，验证产品形态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77240" y="4764024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777240" y="4750054"/>
            <a:ext cx="274320" cy="3022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√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70432" y="4628706"/>
            <a:ext cx="7772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 panose="020B0503020204020204" charset="-122"/>
              </a:rPr>
              <a:t>方案设计</a:t>
            </a:r>
            <a:endParaRPr sz="16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20240" y="4750943"/>
            <a:ext cx="384048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双链路架构、三级反馈、引用校验降级模式全部完成设计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63640" y="1325880"/>
            <a:ext cx="5394960" cy="42062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Rectangle 34"/>
          <p:cNvSpPr/>
          <p:nvPr/>
        </p:nvSpPr>
        <p:spPr>
          <a:xfrm>
            <a:off x="6263640" y="1325880"/>
            <a:ext cx="5394960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6263640" y="1388110"/>
            <a:ext cx="5394960" cy="3327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中期目标（第9-10周）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64807" y="1929384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12279" y="1771205"/>
            <a:ext cx="10058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微软雅黑" panose="020B0503020204020204" charset="-122"/>
              </a:rPr>
              <a:t>真实Web部署</a:t>
            </a:r>
            <a:endParaRPr sz="16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18119" y="1893442"/>
            <a:ext cx="365760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Streamlit 本地Web服务，接入 WinCLIP 真实推理 + Qwen-VL，替代原型站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464807" y="2441448"/>
            <a:ext cx="256032" cy="256032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12279" y="2283270"/>
            <a:ext cx="10058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E65C00"/>
                </a:solidFill>
                <a:latin typeface="微软雅黑" panose="020B0503020204020204" charset="-122"/>
              </a:rPr>
              <a:t>智能对话助手</a:t>
            </a:r>
            <a:endParaRPr sz="1600" b="1">
              <a:solidFill>
                <a:srgbClr val="E65C00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18119" y="2405507"/>
            <a:ext cx="365760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VLM多轮问答：查国标条款、自然语言查历史批次、同图多轮追问（如换标准怎么判）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464807" y="2953512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12279" y="2918524"/>
            <a:ext cx="1005840" cy="27114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微软雅黑" panose="020B0503020204020204" charset="-122"/>
              </a:rPr>
              <a:t>对比实验</a:t>
            </a:r>
            <a:endParaRPr sz="16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18119" y="2917571"/>
            <a:ext cx="365760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纯WinCLIP vs 双链路、纯VLM vs 双链路，量化门控价值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64807" y="3465576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12279" y="3307398"/>
            <a:ext cx="10058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微软雅黑" panose="020B0503020204020204" charset="-122"/>
              </a:rPr>
              <a:t>批量与导出</a:t>
            </a:r>
            <a:endParaRPr sz="16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18119" y="3429635"/>
            <a:ext cx="365760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批量处理 + PDF质检报告导出 + 历史记录管理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464807" y="3977640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12279" y="3819462"/>
            <a:ext cx="10058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微软雅黑" panose="020B0503020204020204" charset="-122"/>
              </a:rPr>
              <a:t>域偏移测试</a:t>
            </a:r>
            <a:endParaRPr sz="16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18119" y="3941699"/>
            <a:ext cx="365760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跨数据集（NEU-DET/GC10-DET）测试零样本迁移能力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464807" y="4489704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2279" y="4331526"/>
            <a:ext cx="1005840" cy="5175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微软雅黑" panose="020B0503020204020204" charset="-122"/>
              </a:rPr>
              <a:t>反馈机制原型</a:t>
            </a:r>
            <a:endParaRPr sz="16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818119" y="4453763"/>
            <a:ext cx="3657600" cy="45593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人工复核入案例库，阈值辅助调整，展示人机协同闭环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19488" y="4315968"/>
            <a:ext cx="2743200" cy="2743200"/>
          </a:xfrm>
          <a:prstGeom prst="ellipse">
            <a:avLst/>
          </a:prstGeom>
          <a:noFill/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38944" y="4535424"/>
            <a:ext cx="2011680" cy="2011680"/>
          </a:xfrm>
          <a:prstGeom prst="ellipse">
            <a:avLst/>
          </a:prstGeom>
          <a:noFill/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754880"/>
            <a:ext cx="1280160" cy="1280160"/>
          </a:xfrm>
          <a:prstGeom prst="ellipse">
            <a:avLst/>
          </a:prstGeom>
          <a:noFill/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635" y="3211830"/>
            <a:ext cx="12191695" cy="25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3023235"/>
            <a:ext cx="210312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7639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4800"/>
              <a:t>感谢老师聆听</a:t>
            </a:r>
            <a:endParaRPr sz="4800"/>
          </a:p>
        </p:txBody>
      </p:sp>
      <p:sp>
        <p:nvSpPr>
          <p:cNvPr id="8" name="TextBox 7"/>
          <p:cNvSpPr txBox="1"/>
          <p:nvPr/>
        </p:nvSpPr>
        <p:spPr>
          <a:xfrm>
            <a:off x="854710" y="2598420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2400" b="0">
                <a:solidFill>
                  <a:srgbClr val="42A5F5"/>
                </a:solidFill>
                <a:latin typeface="微软雅黑" panose="020B0503020204020204" charset="-122"/>
              </a:defRPr>
            </a:pPr>
            <a:r>
              <a:t>恳请批评指正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面向金属表面缺陷的双链路门控智能质检辅助系统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  <a:latin typeface="微软雅黑" panose="020B0503020204020204" charset="-122"/>
              </a:defRPr>
            </a:pPr>
            <a:r>
              <a:t>山东大学人工智能学院  ·  2026.09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2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3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4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5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6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7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8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9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0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1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2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3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4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5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6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7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8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19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20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21.xml><?xml version="1.0" encoding="utf-8"?>
<p:tagLst xmlns:p="http://schemas.openxmlformats.org/presentationml/2006/main">
  <p:tag name="KSO_WM_DIAGRAM_VIRTUALLY_FRAME" val="{&quot;height&quot;:313.1999212598424,&quot;left&quot;:43.2,&quot;top&quot;:111.6,&quot;width&quot;:874.8}"/>
</p:tagLst>
</file>

<file path=ppt/tags/tag22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3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4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5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6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7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8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29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0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1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2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3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4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5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6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7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8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39.xml><?xml version="1.0" encoding="utf-8"?>
<p:tagLst xmlns:p="http://schemas.openxmlformats.org/presentationml/2006/main">
  <p:tag name="KSO_WM_DIAGRAM_VIRTUALLY_FRAME" val="{&quot;height&quot;:327.6,&quot;left&quot;:43.2,&quot;top&quot;:104.4,&quot;width&quot;:874.8}"/>
</p:tagLst>
</file>

<file path=ppt/tags/tag40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1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2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3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4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5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6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7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8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49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0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1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2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3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4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5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6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7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8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ags/tag59.xml><?xml version="1.0" encoding="utf-8"?>
<p:tagLst xmlns:p="http://schemas.openxmlformats.org/presentationml/2006/main">
  <p:tag name="KSO_WM_DIAGRAM_VIRTUALLY_FRAME" val="{&quot;height&quot;:426.84,&quot;left&quot;:41.3,&quot;top&quot;:100.8,&quot;width&quot;:881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WPS 演示</Application>
  <PresentationFormat>On-screen Show (4:3)</PresentationFormat>
  <Paragraphs>363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刘孟霄</cp:lastModifiedBy>
  <cp:revision>6</cp:revision>
  <dcterms:created xsi:type="dcterms:W3CDTF">2013-01-27T09:14:00Z</dcterms:created>
  <dcterms:modified xsi:type="dcterms:W3CDTF">2026-09-22T16:02:58Z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10F8B8B36A74493192E26BBB9CEFAE15_12</vt:lpwstr>
  </property>
</Properties>
</file>